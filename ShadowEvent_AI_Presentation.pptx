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41148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ShadowEvent AI — a proactive traffic intelligence platform for Bengaluru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Transforms 8,139 historical ASTRAM traffic incidents into actionable predictive intelligence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Discovers 'Shadow Events' — recurring congestion patterns invisible to human operators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Computes SERI (Shadow Event Risk Index) — a composite risk score per corridor, day, and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6960" y="1645920"/>
            <a:ext cx="5486400" cy="41148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rPr dirty="0"/>
              <a:t>How It Solves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5303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Problem: Event impact not quantified in advance</a:t>
            </a:r>
            <a:br/>
            <a:r>
              <a:t>  → Solution: SERI forecasts risk 7 days ahead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Problem: Resource deployment is experience-driven</a:t>
            </a:r>
            <a:br/>
            <a:r>
              <a:t>  → Solution: AI Agent recommends deployment grounded in data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Problem: No post-event learning</a:t>
            </a:r>
            <a:br/>
            <a:r>
              <a:t>  → Solution: Adaptive feedback loop logs analyst ratings &amp; surfaces biases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6035040"/>
            <a:ext cx="2743200" cy="548640"/>
          </a:xfrm>
          <a:prstGeom prst="roundRect">
            <a:avLst/>
          </a:prstGeom>
          <a:solidFill>
            <a:srgbClr val="131C2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Gemini-Powered Advisory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6035040"/>
            <a:ext cx="2743200" cy="548640"/>
          </a:xfrm>
          <a:prstGeom prst="roundRect">
            <a:avLst/>
          </a:prstGeom>
          <a:solidFill>
            <a:srgbClr val="131C2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SERI Risk 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6035040"/>
            <a:ext cx="2743200" cy="548640"/>
          </a:xfrm>
          <a:prstGeom prst="roundRect">
            <a:avLst/>
          </a:prstGeom>
          <a:solidFill>
            <a:srgbClr val="131C2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Learning Feedback 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Technical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737360" cy="548640"/>
          </a:xfrm>
          <a:prstGeom prst="roundRect">
            <a:avLst/>
          </a:prstGeom>
          <a:solidFill>
            <a:srgbClr val="131C2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Python + FastAPI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31720" y="1645920"/>
            <a:ext cx="1737360" cy="548640"/>
          </a:xfrm>
          <a:prstGeom prst="roundRect">
            <a:avLst/>
          </a:prstGeom>
          <a:solidFill>
            <a:srgbClr val="131C2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React 19 + Vite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645920"/>
            <a:ext cx="1737360" cy="548640"/>
          </a:xfrm>
          <a:prstGeom prst="roundRect">
            <a:avLst/>
          </a:prstGeom>
          <a:solidFill>
            <a:srgbClr val="131C2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SQLite + Pandas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59" y="1645920"/>
            <a:ext cx="1737360" cy="548640"/>
          </a:xfrm>
          <a:prstGeom prst="roundRect">
            <a:avLst/>
          </a:prstGeom>
          <a:solidFill>
            <a:srgbClr val="131C2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KNN + DBSCAN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645920"/>
            <a:ext cx="1737360" cy="548640"/>
          </a:xfrm>
          <a:prstGeom prst="roundRect">
            <a:avLst/>
          </a:prstGeom>
          <a:solidFill>
            <a:srgbClr val="131C2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Gemini 1.5 Flash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29800" y="1645920"/>
            <a:ext cx="1737360" cy="548640"/>
          </a:xfrm>
          <a:prstGeom prst="roundRect">
            <a:avLst/>
          </a:prstGeom>
          <a:solidFill>
            <a:srgbClr val="131C2E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Leaflet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1645920" cy="914400"/>
          </a:xfrm>
          <a:prstGeom prst="rect">
            <a:avLst/>
          </a:prstGeom>
          <a:solidFill>
            <a:srgbClr val="3B82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 Cleaning</a:t>
            </a:r>
          </a:p>
          <a:p>
            <a:r>
              <a:t>(8,139 rows)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48840" y="3246120"/>
            <a:ext cx="18288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77440" y="2926080"/>
            <a:ext cx="1645920" cy="914400"/>
          </a:xfrm>
          <a:prstGeom prst="rect">
            <a:avLst/>
          </a:prstGeom>
          <a:solidFill>
            <a:srgbClr val="3B82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Feature Eng</a:t>
            </a:r>
          </a:p>
          <a:p>
            <a:r>
              <a:t>(IST Correction)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69080" y="3246120"/>
            <a:ext cx="18288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2926080"/>
            <a:ext cx="1645920" cy="914400"/>
          </a:xfrm>
          <a:prstGeom prst="rect">
            <a:avLst/>
          </a:prstGeom>
          <a:solidFill>
            <a:srgbClr val="3B82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Shadow Events</a:t>
            </a:r>
          </a:p>
          <a:p>
            <a:r>
              <a:t>(666 Discovered)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9320" y="3246120"/>
            <a:ext cx="18288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2926080"/>
            <a:ext cx="1645920" cy="914400"/>
          </a:xfrm>
          <a:prstGeom prst="rect">
            <a:avLst/>
          </a:prstGeom>
          <a:solidFill>
            <a:srgbClr val="3B82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SERI &amp; Hotspots</a:t>
            </a:r>
          </a:p>
          <a:p>
            <a:r>
              <a:t>(22 Corridors)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09560" y="3246120"/>
            <a:ext cx="18288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2926080"/>
            <a:ext cx="1645920" cy="914400"/>
          </a:xfrm>
          <a:prstGeom prst="rect">
            <a:avLst/>
          </a:prstGeom>
          <a:solidFill>
            <a:srgbClr val="3B82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Forecast</a:t>
            </a:r>
          </a:p>
          <a:p>
            <a:r>
              <a:t>(13.75% MAE)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829800" y="3246120"/>
            <a:ext cx="18288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58400" y="2926080"/>
            <a:ext cx="1645920" cy="914400"/>
          </a:xfrm>
          <a:prstGeom prst="rect">
            <a:avLst/>
          </a:prstGeom>
          <a:solidFill>
            <a:srgbClr val="3B82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Agent</a:t>
            </a:r>
          </a:p>
          <a:p>
            <a:r>
              <a:t>(Gemini)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572000"/>
            <a:ext cx="3566160" cy="2048256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6634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SERI Formula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120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SERI = (0.4 × Recurrence + 0.4 × Frequency + 0.2 × Severity) × 100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Bands: Low, Medium, High, Critical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4572000"/>
            <a:ext cx="3566160" cy="2048256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0" y="46634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rPr dirty="0"/>
              <a:t>DBSCAN Hotspots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21208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eps=0.008° (~890m)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min_samples=10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14 spatial clusters mapped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4572000"/>
            <a:ext cx="3566160" cy="2048256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0" y="46634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Forecast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8006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Score = 0.7 × Recurrence + 0.3 × Trend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Validated MAE: 13.75%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Precision: 88.24%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Feasibility &amp; Viability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486400" cy="47548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Feasibility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Data Availability: Validated on 8,139 real incidents from Bengaluru ASTRAM dataset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No Real-Time Dependency: Entirely based on historical recurrence; deployable immediately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Scalable Architecture: FastAPI &amp; SQLite prototype easily migrates to PostgreSQL + Cloud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Cost-Effective Stack: Python, React, and Open-Source tools mean zero licensing overhead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High Predictive Reliability: 88.24% precision &amp; 13.75% MAE on held-out test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486400" cy="2286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F4444"/>
                </a:solidFill>
              </a:defRPr>
            </a:pPr>
            <a:r>
              <a:t>Challenges &amp; 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8600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94% null values in incident end_datetime means duration metrics are unavailable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38% of dataset is 'Non-corridor' which can dilute named-corridor hotspots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MapMyIndia prototype requires domain whitelisting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486400" cy="22860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42062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Mitigation Strategies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7548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Honest Labeling: All limitations explicitly documented. No fabricated metrics.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'Named Corridors Only' filtering removes Non-corridor noise.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CARTO Map fallback implemented ensuring reliable map rendering.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Impact &amp;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560320" cy="1645920"/>
          </a:xfrm>
          <a:prstGeom prst="roundRect">
            <a:avLst/>
          </a:prstGeom>
          <a:solidFill>
            <a:srgbClr val="131C2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8,139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Historical Incidents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45920"/>
            <a:ext cx="2560320" cy="1645920"/>
          </a:xfrm>
          <a:prstGeom prst="roundRect">
            <a:avLst/>
          </a:prstGeom>
          <a:solidFill>
            <a:srgbClr val="131C2E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0" y="18288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666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5603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Shadow Events Discovered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560320" cy="1645920"/>
          </a:xfrm>
          <a:prstGeom prst="roundRect">
            <a:avLst/>
          </a:prstGeom>
          <a:solidFill>
            <a:srgbClr val="131C2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</a:defRPr>
            </a:pPr>
            <a:r>
              <a:t>88.2%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5603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Forecast Precision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560320" cy="1645920"/>
          </a:xfrm>
          <a:prstGeom prst="roundRect">
            <a:avLst/>
          </a:prstGeom>
          <a:solidFill>
            <a:srgbClr val="131C2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0" y="182880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</a:defRPr>
            </a:pPr>
            <a: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5603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Corridors Monitored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600"/>
            <a:ext cx="3566160" cy="27432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749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B82F6"/>
                </a:solidFill>
              </a:defRPr>
            </a:pPr>
            <a:r>
              <a:t>Operational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Transforms reactive policing to proactive deployment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Officers pre-positioned at High/Critical SERI corridors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Simulator enables advance planning for rallies &amp; festivals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657600"/>
            <a:ext cx="3566160" cy="27432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3749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Economic Benefits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29768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Reduces traffic congestion losses (₹3,700 Cr/yr in BLR)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Optimizes manpower — no over/under staffing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Reusable framework for other metros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657600"/>
            <a:ext cx="3566160" cy="274320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3749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Social &amp;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29768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Faster emergency vehicle clearance on predictable routes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Data-driven equity: unbiased SERI prioritization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Transparent AI with labeled historical patterns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510</Words>
  <Application>Microsoft Office PowerPoint</Application>
  <PresentationFormat>Widescreen</PresentationFormat>
  <Paragraphs>90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shaunak Mohagaonkar</cp:lastModifiedBy>
  <cp:revision>3</cp:revision>
  <dcterms:created xsi:type="dcterms:W3CDTF">2013-01-27T09:14:16Z</dcterms:created>
  <dcterms:modified xsi:type="dcterms:W3CDTF">2026-06-21T09:01:50Z</dcterms:modified>
  <cp:category/>
</cp:coreProperties>
</file>